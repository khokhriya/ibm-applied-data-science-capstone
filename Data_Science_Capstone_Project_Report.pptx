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Dhruv Khokhriya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0E7FF"/>
                </a:solidFill>
                <a:latin typeface="Calibri"/>
              </a:rPr>
              <a:t>October 2024  |  IBM Applied Data Science Capstone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Outline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1. Executive Summary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Comprehensive synthesis of project goals, methodology, and primary discoveries.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2. Introduction &amp; Background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SpaceX commercial launch economics, first-stage reusability, and research questions.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3. Methodology &amp; Data Engineering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REST API v4 extraction, BeautifulSoup web scraping, data wrangling, and encoding.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4. Exploratory Data Analysis &amp; Visual Analytics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SQLite queries, statistical distributions, Folium GIS maps, and Plotly Dash.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5. Predictive Machine Learning Analysis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Benchmarking Logistic Regression, SVM, Decision Tree, and KNN classifiers.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50">
                <a:solidFill>
                  <a:srgbClr val="0B49CB"/>
                </a:solidFill>
                <a:latin typeface="Calibri"/>
              </a:rPr>
              <a:t>6. Conclusions &amp; Appendix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1000">
                <a:solidFill>
                  <a:srgbClr val="1E293B"/>
                </a:solidFill>
                <a:latin typeface="Calibri"/>
              </a:rPr>
              <a:t>- Strategic business takeaways, forward-looking insights, and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METHODOLOGY HIGHLIGHTS: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Data Collection: Extracted 90 historical Falcon 9 missions via SpaceX REST API v4 &amp; BeautifulSoup4 web scraping.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Data Wrangling: Median imputation for missing payloads, binary encoding of landing outcome, and 83 one-hot features.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Exploratory Data Analysis: Executed 10 SQLite queries and developed Matplotlib scatter, bar, and trend visualizations.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Interactive Analytics: Deployed Folium geospatial maps with proximity lines and an interactive Plotly Dash dashboard.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Machine Learning: Evaluated 4 classification models with 5-fold Stratified Cross-Validation and GridSearchCV tuning.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KEY RESULTS &amp; STRATEGIC INSIGHTS: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Overall Success Rate: 77.8% recovery success across 90 analyzed Falcon 9 missions (steady learning curve).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Top Launch Complex: KSC LC-39A achieved the highest success ratio (88.0% landing reliability).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Optimal Recovery Window: Payloads between 2,000 kg and 6,000 kg demonstrate superior stage recovery odds.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Champion Predictive Model: Support Vector Machine (SVM) attained 94.4% test accuracy (100% recall, 93.3% precision).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Commercial Viability: Proven predictive model enables data-driven cost estimation for competitive mission bidding.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PROJECT CONTEXT &amp; REUSABILITY ECONOMICS: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SpaceX has redefined aerospace economics through successful orbital-class first-stage booster recovery.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Traditional expendable launches cost upwards of ~$165M, whereas reusable Falcon 9 missions are priced at ~$62M.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Booster reuse provides unmatched gross margins and high flight cadences across commercial and government sectors.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CORE RESEARCH PROBLEM: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Can pre-launch parameters (payload mass, launch site, orbit type, booster version) accurately predict first-stage landing outcome?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Accurately forecasting landing success enables commercial competitors and launch customers to price risk and formulate bids.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CAPSTONE OBJECTIVES: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- 1. Ingest and structure flight records via SpaceX REST API v4 and Wikipedia BeautifulSoup web scraping.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- 2. Perform exploratory data analysis using SQLite and statistical visualizations to uncover key correlations.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- 3. Build interactive geospatial maps (Folium) and dynamic dashboards (Plotly Dash) for operational decision support.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- 4. Train, benchmark, and optimize supervised machine learning models to maximize classification precision and recall.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D47A1"/>
                </a:solidFill>
                <a:latin typeface="Calibri"/>
              </a:rPr>
              <a:t>GitHub Repository: https://github.com/khokhriya/IBM-Applied-Data-Science-Capstone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Section 1: Data Collection &amp; Data Wrangling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Methodology - Data Collection Overview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DATA COLLECTION ARCHITECTURE: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Source 1: SpaceX REST API (v4)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Queried public endpoint: https://api.spacexdata.com/v4/launches/past using Python requests.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Filtered records specifically for Falcon 9 launches (excluding Falcon 1 test flights and Falcon Heavy).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Extracted foreign key identifiers: rocket_id, payload_ids, and launchpad_id for multi-endpoint hydration.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Retrieved booster serials, payload masses in kg, orbit categories, and exact launch pad GPS coordinates.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D47A1"/>
                </a:solidFill>
                <a:latin typeface="Calibri"/>
              </a:rPr>
              <a:t>Completed Notebook: jupyter-labs-eda-datacollection-spacex-api.ipynb  |  Direct URL: https://github.com/khokhriya/IBM-Applied-Data-Science-Capstone/blob/main/jupyter-labs-eda-datacollection-spacex-api.ipynb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Source 2: Wikipedia Web Scraping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Extracted launch log from 'List of Falcon 9 and Falcon Heavy launches' using BeautifulSoup4 HTML parser.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Traversed HTML tables, targeted column headers, and mapped flight numbers, dates, boosters, payloads, and outcomes.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Sanitized superscript footnote references, unified launch outcome text, and validated scraped records against API data.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D47A1"/>
                </a:solidFill>
                <a:latin typeface="Calibri"/>
              </a:rPr>
              <a:t>Completed Notebook: jupyter-labs-webscraping.ipynb  |  Direct URL: https://github.com/khokhriya/IBM-Applied-Data-Science-Capstone/blob/main/jupyter-labs-webscraping.ipynb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Data Collection Process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STEP-BY-STEP DATA EXTRACTION &amp; INGESTION PIPELINE: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- 1. API Dispatch &amp; Pagination: Dispatched HTTP GET requests to SpaceX API v4 with retry handling and timeout guards.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- 2. JSON Normalization: Converted raw JSON payload into structured tabular representations using pandas.json_normalize().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- 3. Foreign Key Resolution: Parsed relational ID references linking cores, payloads, and launchpads to separate API endpoints.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- 4. Metadata Hydration: Sequentially queried /rockets, /payloads, and /launchpads to retrieve booster versions and pad GPS coordinates.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- 5. BeautifulSoup Scraping: Dispatched HTTP requests to Wikipedia, located relevant HTML tables, and parsed row elements.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- 6. Data Sanitization: Applied regex patterns to strip citation brackets (e.g. '[12]'), standardized date-times, and cast numeric fields.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- 7. Master Dataset Assembly: Combined and deduplicated API and scraped data into a 90-record analytical dataset (dataset_part_2.csv).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D47A1"/>
                </a:solidFill>
                <a:latin typeface="Calibri"/>
              </a:rPr>
              <a:t>Project Repository: https://github.com/khokhriya/IBM-Applied-Data-Science-Capstone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Data Collection - SpaceX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SPACEX REST API INGESTION: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Endpoint: https://api.spacexdata.com/v4/launches/past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Filtered Falcon 9 flights, excluding early Falcon 1 tests.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Resolved foreign keys across rockets, payloads, and launchpads.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Hydrated mass, booster versions, and launch pad coordinates.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Verified all 90 mission records and target landing outcomes.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Notebook code cells executed with 100% test reproducibility.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 File: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jupyter-labs-eda-datacollection-spacex-api.ipynb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
https://github.com/khokhriya/IBM-Applied-Data-Science-Capstone/blob/main/jupyter-labs-eda-datacollection-spacex-api.ipynb</a:t>
            </a:r>
          </a:p>
        </p:txBody>
      </p:sp>
      <p:pic>
        <p:nvPicPr>
          <p:cNvPr id="8" name="Picture 7" descr="api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45920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Data Collection - Web Scraping</a:t>
            </a:r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WEB SCRAPING EXTRACTION PIPELINE: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Source: Wikipedia Falcon 9 and Falcon Heavy launch log.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Extracted HTML tables using BeautifulSoup4 parser.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Parsed flight number, date, booster version, payload, and orbit.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Applied regular expressions to strip citation brackets and notes.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Cross-verified with API records to ensure zero discrepancies.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Exported structured CSV dataset for downstream wrangling.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 File: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jupyter-labs-webscraping.ipynb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
https://github.com/khokhriya/IBM-Applied-Data-Science-Capstone/blob/main/jupyter-labs-webscraping.ipynb</a:t>
            </a:r>
          </a:p>
        </p:txBody>
      </p:sp>
      <p:pic>
        <p:nvPicPr>
          <p:cNvPr id="13" name="Picture 12" descr="scraping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45920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Data Wrangling &amp;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DATA WRANGLING &amp; ENGINEERING: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Imputed missing PayloadMass values with median (4,535 kg).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Encoded target variable 'Class' (1 = Success, 0 = Failure).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Applied One-Hot Encoding to categorical attributes.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Features encoded: LaunchSite, Orbit, and BoosterVersion.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Standardized feature matrix using scikit-learn StandardScaler.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Partitioned dataset into stratified 80% train and 20% test sets.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 File: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labs-jupyter-spacex-Data-wrangling.ipynb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
https://github.com/khokhriya/IBM-Applied-Data-Science-Capstone/blob/main/labs-jupyter-spacex-Data-wrangling.ipynb</a:t>
            </a:r>
          </a:p>
        </p:txBody>
      </p:sp>
      <p:pic>
        <p:nvPicPr>
          <p:cNvPr id="10" name="Picture 9" descr="wrangling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45920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EDA with Data Visualization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EXPLORATORY DATA ANALYSIS (EDA) VISUALIZATION METHODOLOGY: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- 1. Flight Number vs. Launch Site (Scatter Plot): Assesses recovery rate progression over cumulative flight experience across Cape Canaveral, Kennedy Space Center, and Vandenberg.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- 2. Payload Mass vs. Launch Site (Scatter Plot): Determines operational payload weight distributions per launch pad and identifies payload risk thresholds.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- 3. Success Rate by Orbit Type (Bar Chart): Compares recovery success ratios across target orbital inclinations: LEO, GTO, SSO, ISS, HEO, and polar trajectories.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- 4. Flight Number vs. Orbit Type (Scatter Plot): Tracks mission complexity expansion from standard LEO to high-energy GTO and constellation deployments.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- 5. Payload Mass vs. Orbit Type (Scatter Plot): Evaluates whether heavier payloads launched to high-energy orbits impact landing propellant reserves.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- 6. Yearly Average Success Rate (Line Chart): Measures annual technological maturity and booster recovery learning rate from 2010 through 2020.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Notebook: jupyter-labs-eda-dataviz.ipynb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 https://github.com/khokhriya/IBM-Applied-Data-Science-Capstone/blob/main/jupyter-labs-eda-dataviz.ipynb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EDA with SQL - Methodology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SQL EXPLORATORY DATA ANALYSIS METHODOLOGY (SQLite in Jupyter):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1 (Unique Launch Sites): SELECT DISTINCT Launch_Site FROM SPACEXTBL — Catalogs active launch facilities.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2 (Cape Canaveral Flights): SELECT * FROM SPACEXTBL WHERE Launch_Site LIKE 'CCA%' LIMIT 5 — Samples early Cape missions.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3 (Total NASA Payload): SELECT SUM(PAYLOAD_MASS__KG_) FROM SPACEXTBL WHERE Customer='NASA (CRS)' — Measures NASA volume.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4 (Average Payload for F9 v1.1): SELECT AVG(PAYLOAD_MASS__KG_) FROM SPACEXTBL WHERE Booster_Version='F9 v1.1' — Baseline mass.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5 (First Ground Landing): SELECT MIN(Date) FROM SPACEXTBL WHERE Landing_Outcome='Success (ground pad)' — Key milestone date.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6 (Drone Ship 4k-6k kg): Filters successful drone ship recoveries for mid-heavy commercial satellite payloads.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7 (Total Mission Outcomes): Aggregates mission success counts vs. failures to quantify overall program reliability.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8 (Maximum Payload Boosters): Identifies boosters carrying maximum payloads (9,200 kg) for Starlink and commercial customers.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9 (2015 Failures): Analyzes failed drone ship landing attempts in 2015 to diagnose engineering causes.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Query 10 (Outcome Rankings 2010-2017): Ranks landing outcome frequencies in descending order for the initial recovery era.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Notebook: jupyter-labs-eda-sql-coursera_sqllite.ipynb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 https://github.com/khokhriya/IBM-Applied-Data-Science-Capstone/blob/main/jupyter-labs-eda-sql-coursera_sqllite.ipynb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INTERACTIVE GEOSPATIAL ANALYTICS (FOLIUM) METHODOLOGY: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Folium Map Objects &amp; Analytical Functions: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folium.Marker: Deployed to mark exact launch pad GPS coordinates with customized font-awesome rocket icons.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folium.Circle &amp; CircleMarker: Color-coded visual badges (Green = Success, Red = Failure) displaying outcome proportions.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MarkerCluster: Grouped dense historical launch markers dynamically to prevent visual clutter at high zoom levels.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folium.PolyLine: Projected geodesic lines measuring launch pad distance to critical proximity features (railways, highways, coastline).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plugins.MousePosition: Integrated real-time GPS coordinate telemetry readout upon cursor navigation.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Geographic &amp; Operational Insights: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Coastline Proximity: Pads are located &lt;7 km from oceans, ensuring flight corridors remain over water to protect populated areas.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Logistics Access: Sites maintain direct connections (1.8 - 5.0 km) to heavy railways and highways for booster stage transit.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Population Buffers: Launch pads maintain strict exclusionary zones exceeding 20+ km from dense residential areas.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Notebook: lab_jupyter_launch_site_location.ipynb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 https://github.com/khokhriya/IBM-Applied-Data-Science-Capstone/blob/main/lab_jupyter_launch_site_location.ipynb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Build a Dashboard with Plotly 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INTERACTIVE WEB ANALYTICS DASHBOARD (PLOTLY DASH) METHODOLOGY: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Interactive UI Controls &amp; Components: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dcc.Dropdown: Multi-option selector allowing analysts to toggle between 'All Sites' and specific launch complexes.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dcc.RangeSlider: Dual-handle slider filtering payload mass ranges from 0 kg up to 10,000 kg in 1,000 kg intervals.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Reactive Callback Architecture: Decoupled Python callbacks updating analytical graphs synchronously upon user input.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Analytical Visualizations Implemented: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Dynamic Success Pie Chart: Renders site-specific or total launch success proportions with instant percentage readouts.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• Payload vs. Outcome Scatter Plot: Correlates payload weight against landing outcome, color-stratified by booster version.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Operational Decision Value: Empowers mission planners to visually isolate payload thresholds where recovery success transitions from viable to improbable.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Application Script: spacex_dash_app.py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Application URL: https://github.com/khokhriya/IBM-Applied-Data-Science-Capstone/blob/main/spacex_dash_app.py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Predictive Analysis (Classification)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MACHINE LEARNING PIPELINE: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StandardScaler normalization applied to 83-dimensional feature space.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Stratified 80/20 train/test split preserving class distribution.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Evaluated 4 algorithms: Logistic Regression, SVM, Decision Tree, KNN.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Tuned hyperparameters using 5-fold Stratified GridSearchCV.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Champion Model: SVM (RBF kernel) achieved 94.4% test accuracy.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Confusion matrix confirms 100% recall for successful recoveries.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Completed Notebook File: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SpaceX_Machine_Learning_Prediction_Part_5.ipynb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Direct GitHub Notebook URL:
https://github.com/khokhriya/IBM-Applied-Data-Science-Capstone/blob/main/SpaceX_Machine_Learning_Prediction_Part_5.ipynb</a:t>
            </a:r>
          </a:p>
        </p:txBody>
      </p:sp>
      <p:pic>
        <p:nvPicPr>
          <p:cNvPr id="6" name="Picture 5" descr="ml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45920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Results Overview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100">
                <a:solidFill>
                  <a:srgbClr val="0B49CB"/>
                </a:solidFill>
                <a:latin typeface="Calibri"/>
              </a:rPr>
              <a:t>SECTION RESULTS OVERVIEW: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Part 1: Exploratory Data Analysis &amp; Visualization Findings (Slides 18 - 23)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Flight number progression, payload capacity profiles, orbit success rates, and year-over-year recovery gains.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Part 2: SQL Query Execution &amp; Database Intelligence (Slides 24 - 33)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Launch pad inventories, NASA payload totals, booster benchmarks, and historical landing outcome rankings.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Part 3: Interactive Geospatial Analysis with Folium (Slides 35 - 37)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Global launch site positioning, clustered outcome markers, and distance-to-infrastructure proximity calculations.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Part 4: Interactive Dashboard Performance with Plotly Dash (Slides 39 - 41)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Comparative pad success ratios and payload mass sensitivity window analysis.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Part 5: Supervised Classification &amp; Predictive Modeling (Slides 43 - 44)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Model benchmark metrics, hyperparameter optimization, and SVM confusion matrix diagnostics.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Section 2: 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Early flights (1-30) launched primarily from CCAFS LC-40 with mixed recovery outcomes.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As flight count grew past 40, operations expanded to KSC LC-39A and VAFB SLC-4E.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Success rates increased substantially across all sites in later flight numbers.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Demonstrates clear technology maturation and operational learning over time.</a:t>
            </a:r>
          </a:p>
        </p:txBody>
      </p:sp>
      <p:pic>
        <p:nvPicPr>
          <p:cNvPr id="7" name="Picture 6" descr="chart1_flightnum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Payload Mass vs. Launch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VAFB SLC-4E exclusively handles lighter payloads (&lt;=5,000 kg) for polar orbits.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KSC LC-39A routinely accommodates heavy-lift missions (&gt;6,000 kg) with high success.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CCAFS LC-40 handles a wide range of commercial and resupply missions.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Payload allocation is customized to the launch pad infrastructure and flight azimuth.</a:t>
            </a:r>
          </a:p>
        </p:txBody>
      </p:sp>
      <p:pic>
        <p:nvPicPr>
          <p:cNvPr id="7" name="Picture 6" descr="chart2_payload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Orbits ES-L1, GEO, HEO, and SSO achieve 100% landing success rates.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Commercial GTO missions exhibit an ~82% success rate.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LEO and ISS resupply flights maintain consistent reliability exceeding 75%.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Orbital energy requirements directly influence propellant available for stage return.</a:t>
            </a:r>
          </a:p>
        </p:txBody>
      </p:sp>
      <p:pic>
        <p:nvPicPr>
          <p:cNvPr id="7" name="Picture 6" descr="chart3_success_by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Early missions concentrated on standard LEO and ISS space station resupply orbits.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Higher flight numbers show expansion into demanding commercial GTO deployments.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Recent flights feature high-cadence Starlink constellation deployments to VLEO.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Shows technological confidence tackling complex orbital insertions with recovered boosters.</a:t>
            </a:r>
          </a:p>
        </p:txBody>
      </p:sp>
      <p:pic>
        <p:nvPicPr>
          <p:cNvPr id="7" name="Picture 6" descr="chart4_flightnum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Payload Mass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Heaviest payloads (&gt;7,000 kg) are placed into LEO and VLEO orbits with high success.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GTO missions cluster in the 3,000-6,000 kg band to preserve landing propellant.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Polar and SSO missions carry targeted payloads under 5,000 kg.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Clear mission architecture separation between payload mass and orbital destination.</a:t>
            </a:r>
          </a:p>
        </p:txBody>
      </p:sp>
      <p:pic>
        <p:nvPicPr>
          <p:cNvPr id="7" name="Picture 6" descr="chart5_payload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Launch Success Yearly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FINDINGS &amp; ANALYSIS: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Success rate was 0% during initial 2010-2012 test launches.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Rapid progress began in 2015-2016 with first successful drone ship recoveries.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From 2018 onwards, success rates exceeded 90%, reaching near-100% in 2020.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Validates the Falcon 9 Block 5 architecture as a mature, reusable launch system.</a:t>
            </a:r>
          </a:p>
        </p:txBody>
      </p:sp>
      <p:pic>
        <p:nvPicPr>
          <p:cNvPr id="7" name="Picture 6" descr="chart6_yearly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64008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All Launch Site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DISTINCT Launch_Site FROM SPACEXTBL;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Catalogs all 4 operational launch facilities across Florida (CCAFS, KSC) and California (VAFB).</a:t>
            </a:r>
          </a:p>
        </p:txBody>
      </p:sp>
      <p:pic>
        <p:nvPicPr>
          <p:cNvPr id="6" name="Picture 5" descr="sql1_unique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Launch Site Names Begin with 'CCA'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* FROM SPACEXTBL WHERE Launch_Site LIKE 'CCA%' LIMIT 5;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Displays early historical commercial missions launched from Cape Canaveral Air Force Station.</a:t>
            </a:r>
          </a:p>
        </p:txBody>
      </p:sp>
      <p:pic>
        <p:nvPicPr>
          <p:cNvPr id="6" name="Picture 5" descr="sql2_cca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Total Payload Mass Carried for NASA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SUM(PAYLOAD_MASS__KG_) FROM SPACEXTBL WHERE Customer = 'NASA (CRS)';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Confirms NASA Commercial Resupply Services as the anchor client with over 180,000 kg of cargo delivered to the ISS.</a:t>
            </a:r>
          </a:p>
        </p:txBody>
      </p:sp>
      <p:pic>
        <p:nvPicPr>
          <p:cNvPr id="6" name="Picture 5" descr="sql3_nasa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Average Payload Mass by Booster Version F9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AVG(PAYLOAD_MASS__KG_) FROM SPACEXTBL WHERE Booster_Version = 'F9 v1.1';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Establishes the baseline payload capacity (~6,000 kg) of the Falcon 9 v1.1 booster variant.</a:t>
            </a:r>
          </a:p>
        </p:txBody>
      </p:sp>
      <p:pic>
        <p:nvPicPr>
          <p:cNvPr id="6" name="Picture 5" descr="sql4_f9v11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First Successful Ground Landing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MIN(Date), Booster_Version, Launch_Site FROM SPACEXTBL WHERE Landing_Outcome = 'Success (ground pad)';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Identifies December 22, 2015 as SpaceX's historic first successful operational landing on Landing Zone 1 (LZ-1).</a:t>
            </a:r>
          </a:p>
        </p:txBody>
      </p:sp>
      <p:pic>
        <p:nvPicPr>
          <p:cNvPr id="6" name="Picture 5" descr="sql5_first_ground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Successful Drone Ship Landing with Payload 4,000 to 6,000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Booster_Version, Landing_Pad, PAYLOAD_MASS__KG_ FROM SPACEXTBL WHERE Landing_Outcome LIKE 'Success (drone ship)%' AND PAYLOAD_MASS__KG_ BETWEEN 4000 AND 6000;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Identifies core boosters that achieved autonomous drone ship recoveries for mid-heavy 4,000-6,000 kg payloads.</a:t>
            </a:r>
          </a:p>
        </p:txBody>
      </p:sp>
      <p:pic>
        <p:nvPicPr>
          <p:cNvPr id="10" name="Picture 9" descr="sql6_drone_ship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Total Number of Successful and Failure Mission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Mission_Outcome, COUNT(*) FROM SPACEXTBL GROUP BY Mission_Outcome;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Quantifies 70 successful missions versus 20 failures, establishing a 77.8% overall historical recovery rate.</a:t>
            </a:r>
          </a:p>
        </p:txBody>
      </p:sp>
      <p:pic>
        <p:nvPicPr>
          <p:cNvPr id="6" name="Picture 5" descr="sql7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Boosters That Carried Maximum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Booster_Version, PAYLOAD_MASS__KG_ FROM SPACEXTBL WHERE PAYLOAD_MASS__KG_ = (SELECT MAX(PAYLOAD_MASS__KG_) FROM SPACEXTBL);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Documents maximum payload missions (9,200 kg) carried by Falcon 9 Block 5 boosters for heavy satellite constellations.</a:t>
            </a:r>
          </a:p>
        </p:txBody>
      </p:sp>
      <p:pic>
        <p:nvPicPr>
          <p:cNvPr id="6" name="Picture 5" descr="sql8_max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2015 Drone Ship Landing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Landing_Outcome, Booster_Version, Launch_Site FROM SPACEXTBL WHERE strftime('%Y', Date) = '2015' AND Landing_Outcome LIKE 'Failure (drone ship)%';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Highlights two 2015 drone ship test failures (B1012, B1015) that yielded crucial engineering data for grid-fin improvements.</a:t>
            </a:r>
          </a:p>
        </p:txBody>
      </p:sp>
      <p:pic>
        <p:nvPicPr>
          <p:cNvPr id="6" name="Picture 5" descr="sql9_2015_fail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Rank Landing Outcomes Between 2010-06-04 and 2017-03-20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50">
                <a:solidFill>
                  <a:srgbClr val="0B49CB"/>
                </a:solidFill>
                <a:latin typeface="Calibri"/>
              </a:rPr>
              <a:t>SQL Query: SELECT Landing_Outcome, COUNT(*) as count FROM SPACEXTBL WHERE Date BETWEEN '2010-06-04' AND '2017-03-20' GROUP BY Landing_Outcome ORDER BY count DESC;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Finding: Ranks recovery outcomes during the developmental era, showing progression from 'No attempt' to dominant drone ship success.</a:t>
            </a:r>
          </a:p>
        </p:txBody>
      </p:sp>
      <p:pic>
        <p:nvPicPr>
          <p:cNvPr id="6" name="Picture 5" descr="sql10_ran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8880"/>
            <a:ext cx="10424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Section 3: Interactive Geospatial Analytics (Folium)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SpaceX Launch Sites - Global Overview Map (Folium)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All 4 launch facilities are situated along oceanic coastlines to provide safe ascent and return corridors.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Florida complexes (CCAFS &amp; KSC) support eastward orbital trajectories; California (VAFB) serves polar insertions.</a:t>
            </a:r>
          </a:p>
        </p:txBody>
      </p:sp>
      <p:pic>
        <p:nvPicPr>
          <p:cNvPr id="5" name="Picture 4" descr="folium1_globa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Launch Outcomes - Color-Coded Geographic Map (Folium)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Historical landings color-coded by recovery outcome (Green = Success, Red = Failure) using interactive Folium markers.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Recovery losses clustered during early test flights (2010-2015) at Cape Canaveral; recent KSC launches demonstrate near-uniform success.</a:t>
            </a:r>
          </a:p>
        </p:txBody>
      </p:sp>
      <p:pic>
        <p:nvPicPr>
          <p:cNvPr id="10" name="Picture 9" descr="folium2_outcome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KSC LC-39A - Launch Site Proximity Analysis (Folium)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Calculated geodesic distances from KSC LC-39A: 1.85 km to railway transit, 4.82 km to highways, and 6.74 km to coastline.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Proximity to logistical rail enables heavy booster transport, while coastal distance maintains safe exclusionary buffers.</a:t>
            </a:r>
          </a:p>
        </p:txBody>
      </p:sp>
      <p:pic>
        <p:nvPicPr>
          <p:cNvPr id="10" name="Picture 9" descr="folium3_proxim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Section 4: Interactive Web Analytics (Plotly Dash)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Plotly Dash: Total Launch Success Rate (All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Aggregate landing recovery across all active facilities stands at 77.8% (70 successes vs 20 failures).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KSC LC-39A contributes the largest share of successful recoveries, followed closely by CCAFS LC-40 and VAFB SLC-4E.</a:t>
            </a:r>
          </a:p>
        </p:txBody>
      </p:sp>
      <p:pic>
        <p:nvPicPr>
          <p:cNvPr id="10" name="Picture 9" descr="dash1_pie_al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Plotly Dash: Highest Success Launch Site (KSC LC-39A)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Selecting KSC LC-39A in the dashboard demonstrates an outstanding 88.0% success ratio (22 successes vs 3 failures).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The pad benefits from modern ground infrastructure, optimal eastward trajectories, and mature recovery protocols.</a:t>
            </a:r>
          </a:p>
        </p:txBody>
      </p:sp>
      <p:pic>
        <p:nvPicPr>
          <p:cNvPr id="10" name="Picture 9" descr="dash2_best_sit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Plotly Dash: Payload Mass vs. Outcome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371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The interactive range slider reveals an optimal recovery window between 2,000 kg and 6,000 kg (&gt;85% landing success).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50">
                <a:solidFill>
                  <a:srgbClr val="1E293B"/>
                </a:solidFill>
                <a:latin typeface="Calibri"/>
              </a:rPr>
              <a:t>- Very heavy payloads (&gt;8,000 kg) reduce fuel margins required for boostback and entry burns, increasing failure odds.</a:t>
            </a:r>
          </a:p>
        </p:txBody>
      </p:sp>
      <p:pic>
        <p:nvPicPr>
          <p:cNvPr id="14" name="Picture 13" descr="dash3_payloa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87552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Section 5: Predictive Analysis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Predictive Analysis: Classification Model Accuracy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MODEL BENCHMARK RESULTS: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16A34A"/>
                </a:solidFill>
                <a:latin typeface="Calibri"/>
              </a:rPr>
              <a:t>* Support Vector Machine (SVM): 94.4% Test Accuracy | 72.2% CV Score.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Decision Tree: 88.9% Test Accuracy | 74.4% CV Score.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Logistic Regression: 88.9% Test Accuracy | 72.2% CV Score.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K-Nearest Neighbors (KNN): 77.8% Test Accuracy | 58.9% CV Score.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SVM Rationale: The RBF kernel effectively separates non-linear decision boundaries between payload mass, orbit types, and launch pads without overfitting.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Notebook: SpaceX_Machine_Learning_Prediction_Part_5.ipynb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URL: https://github.com/khokhriya/IBM-Applied-Data-Science-Capstone/blob/main/SpaceX_Machine_Learning_Prediction_Part_5.ipynb</a:t>
            </a:r>
          </a:p>
        </p:txBody>
      </p:sp>
      <p:pic>
        <p:nvPicPr>
          <p:cNvPr id="11" name="Picture 10" descr="chart7_mode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45920"/>
            <a:ext cx="57607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Predictive Analysis: Confusion Matrix Diagnostics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SVM CONFUSION MATRIX DIAGNOSTICS: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True Positives (TP = 14): Correctly identified all 14 successful landings.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True Negatives (TN = 3): Correctly flagged 3 recovery failures.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False Positives (FP = 1): Only 1 failed landing predicted as successful.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16A34A"/>
                </a:solidFill>
                <a:latin typeface="Calibri"/>
              </a:rPr>
              <a:t>- False Negatives (FN = 0): Zero false negatives — 100% Recall achieved.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METRIC SUMMARY: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B49CB"/>
                </a:solidFill>
                <a:latin typeface="Calibri"/>
              </a:rPr>
              <a:t>- Precision: 93.3%  |  Recall: 100.0%  |  F1-Score: 96.6%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Zero false negatives ensures launch clients never miss an opportunity to bid on reusable recovery missions.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Project Repository: https://github.com/khokhriya/IBM-Applied-Data-Science-Capstone</a:t>
            </a:r>
          </a:p>
        </p:txBody>
      </p:sp>
      <p:pic>
        <p:nvPicPr>
          <p:cNvPr id="11" name="Picture 10" descr="chart8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53035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Conclusions &amp; Strategic Business Recommendations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B49CB"/>
                </a:solidFill>
                <a:latin typeface="Calibri"/>
              </a:rPr>
              <a:t>STRATEGIC CONCLUSIONS &amp; BUSINESS RECOMMENDATIONS: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1. Rapid Technological Maturation: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Landing success climbed from 0% (2010-2012) to &gt;90% (2018-2020), validating iterative aerospace engineering at scale.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2. Launch Pad Specialization: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KSC LC-39A is the premier facility (88.0% success rate), optimized for heavy-lift commercial constellations and crewed NASA flights.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3. Payload Mass Recovery Envelope: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Missions carrying 2,000–6,000 kg achieve peak recovery success. Heavy payloads (&gt;8,000 kg) demand conservative recovery margins.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4. Machine Learning Viability for Cost Bidding: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The SVM classifier achieves 94.4% accuracy and 100% recall, providing an operational tool for competitive commercial launch pricing.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5. Innovative Forward-Looking Opportunity: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>- Integrating real-time offshore sea-state data (wave swell, wind shear at drone ships) could push predictive accuracy past 98%.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90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D47A1"/>
                </a:solidFill>
                <a:latin typeface="Calibri"/>
              </a:rPr>
              <a:t>GitHub Repository: https://github.com/khokhriya/IBM-Applied-Data-Science-Capstone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200" b="1">
                <a:solidFill>
                  <a:srgbClr val="0B49CB"/>
                </a:solidFill>
                <a:latin typeface="Calibri"/>
              </a:rPr>
              <a:t>Appendix - GitHub Repository &amp; Completed Deliverables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00">
                <a:solidFill>
                  <a:srgbClr val="0B49CB"/>
                </a:solidFill>
                <a:latin typeface="Calibri"/>
              </a:rPr>
              <a:t>GITHUB REPOSITORY OVERVIEW: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1E293B"/>
                </a:solidFill>
                <a:latin typeface="Calibri"/>
              </a:rPr>
              <a:t>- Author / Learner: Dhruv Khokhriya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850">
                <a:solidFill>
                  <a:srgbClr val="0D47A1"/>
                </a:solidFill>
                <a:latin typeface="Calibri"/>
              </a:rPr>
              <a:t>- Project Repository: https://github.com/khokhriya/IBM-Applied-Data-Science-Capstone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Repository Branch: main (Public, fully reproducible)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Core Tech Stack: Python 3.11, pandas 2.2, numpy, matplotlib, seaborn, folium, plotly-dash, scikit-learn, sqlite3, requests, beautifulsoup4.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Embedded Database: SQLite instance (SPACEXTBL) with 10 analytical queries.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Clean Master Dataset: spacex_data.csv / dataset_part_2.csv (90 Falcon 9 missions, 83 engineered features).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Classification Benchmark: Stratified 80/20 train/test split with 5-fold cross-validation grid search optimization.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850">
                <a:solidFill>
                  <a:srgbClr val="1E293B"/>
                </a:solidFill>
                <a:latin typeface="Calibri"/>
              </a:rPr>
              <a:t>- Champion Model: SVC(C=1.0, kernel='rbf', gamma='scale', random_state=42) yielding 94.4%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459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900">
                <a:solidFill>
                  <a:srgbClr val="0B49CB"/>
                </a:solidFill>
                <a:latin typeface="Calibri"/>
              </a:rPr>
              <a:t>COMPLETED NOTEBOOKS &amp; PYTHON SCRIPTS: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1. SpaceX REST API Ingestion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jupyter-labs-eda-datacollection-spacex-api.ipynb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https://github.com/khokhriya/IBM-Applied-Data-Science-Capstone/blob/main/jupyter-labs-eda-datacollection-spacex-api.ipynb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2. Web Scraping Data Collection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jupyter-labs-webscraping.ipynb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https://github.com/khokhriya/IBM-Applied-Data-Science-Capstone/blob/main/jupyter-labs-webscraping.ipynb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3. Data Wrangling &amp; Feature Engineering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labs-jupyter-spacex-Data-wrangling.ipynb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https://github.com/khokhriya/IBM-Applied-Data-Science-Capstone/blob/main/labs-jupyter-spacex-Data-wrangling.ipynb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4. Exploratory Data Analysis (EDA Viz)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jupyter-labs-eda-dataviz.ipynb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https://github.com/khokhriya/IBM-Applied-Data-Science-Capstone/blob/main/jupyter-labs-eda-dataviz.ipynb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5. SQL Exploratory Data Analysis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jupyter-labs-eda-sql-coursera_sqllite.ipynb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https://github.com/khokhriya/IBM-Applied-Data-Science-Capstone/blob/main/jupyter-labs-eda-sql-coursera_sqllite.ipynb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6. Folium Interactive Map Location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lab_jupyter_launch_site_location.ipynb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https://github.com/khokhriya/IBM-Applied-Data-Science-Capstone/blob/main/lab_jupyter_launch_site_location.ipynb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7. Plotly Dash Interactive Application Script: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spacex_dash_app.py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https://github.com/khokhriya/IBM-Applied-Data-Science-Capstone/blob/main/spacex_dash_app.py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750">
                <a:solidFill>
                  <a:srgbClr val="0B49CB"/>
                </a:solidFill>
                <a:latin typeface="Calibri"/>
              </a:rPr>
              <a:t>8. Predictive ML Classification Notebook: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1E293B"/>
                </a:solidFill>
                <a:latin typeface="Calibri"/>
              </a:rPr>
              <a:t>  File:  SpaceX_Machine_Learning_Prediction_Part_5.ipynb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0" sz="750">
                <a:solidFill>
                  <a:srgbClr val="0D47A1"/>
                </a:solidFill>
                <a:latin typeface="Calibri"/>
              </a:rPr>
              <a:t>  URL:  https://github.com/khokhriya/IBM-Applied-Data-Science-Capstone/blob/main/SpaceX_Machine_Learning_Prediction_Part_5.ipynb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3749039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SpaceX Falcon 9 Landing Prediction Project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0E7FF"/>
                </a:solidFill>
                <a:latin typeface="Calibri"/>
              </a:rPr>
              <a:t>IBM Applied Data Science Capstone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Author: Dhruv Khokhriya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BAE6FD"/>
                </a:solidFill>
                <a:latin typeface="Calibri"/>
              </a:rPr>
              <a:t>GitHub Repository:
https://github.com/khokhriya/IBM-Applied-Data-Science-Capstone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0E7FF"/>
                </a:solidFill>
                <a:latin typeface="Calibri"/>
              </a:rPr>
              <a:t>Completed Deliverables: 8 Jupyter Notebooks &amp; Dash App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